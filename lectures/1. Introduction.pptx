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25"/>
  </p:notesMasterIdLst>
  <p:sldIdLst>
    <p:sldId id="256" r:id="rId2"/>
    <p:sldId id="257" r:id="rId3"/>
    <p:sldId id="258" r:id="rId4"/>
    <p:sldId id="262" r:id="rId5"/>
    <p:sldId id="265" r:id="rId6"/>
    <p:sldId id="259" r:id="rId7"/>
    <p:sldId id="261" r:id="rId8"/>
    <p:sldId id="260" r:id="rId9"/>
    <p:sldId id="266" r:id="rId10"/>
    <p:sldId id="279" r:id="rId11"/>
    <p:sldId id="263" r:id="rId12"/>
    <p:sldId id="264" r:id="rId13"/>
    <p:sldId id="268" r:id="rId14"/>
    <p:sldId id="267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55" autoAdjust="0"/>
    <p:restoredTop sz="80881" autoAdjust="0"/>
  </p:normalViewPr>
  <p:slideViewPr>
    <p:cSldViewPr snapToGrid="0">
      <p:cViewPr varScale="1">
        <p:scale>
          <a:sx n="95" d="100"/>
          <a:sy n="95" d="100"/>
        </p:scale>
        <p:origin x="17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C38AF-FF9F-4884-9F5F-06F55B2A44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4A77A-7BF8-4406-A7D7-47E36254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26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Prepare yourself well for the tutorials so that we can help efficiently.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63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56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84A4-C10C-7A36-663E-159147ACC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F7019-1CF2-4ED9-F19C-61B7037EA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4D9E6-4393-55FB-2F4E-5F18869CF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What courses in ML did you take so far, what are your experiences?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CCB1C-9BA2-9E5E-02D3-52EC4B6D3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47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The 7 themes are: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Data Handling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Outlier 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Association Rule Mining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Clustering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Dimensionality Reduction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Networks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dirty="0"/>
              <a:t>Text Mining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89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default answers do not fully apply in this course, we’ll do something else predominantly.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do ML-related things, just not supervised ML.</a:t>
            </a:r>
          </a:p>
          <a:p>
            <a:endParaRPr lang="en-US" dirty="0"/>
          </a:p>
          <a:p>
            <a:r>
              <a:rPr lang="en-US" dirty="0"/>
              <a:t>Explain what supervised ML is and ask students about unsupervised ML. Then explain unsupervised ML, as well as what inductive bias is: “The IB of a learning algorithm is the set of assumptions that the learner uses to predict outputs of given inputs that it has not encountered.”</a:t>
            </a:r>
          </a:p>
          <a:p>
            <a:endParaRPr lang="en-US" dirty="0"/>
          </a:p>
          <a:p>
            <a:r>
              <a:rPr lang="en-US" dirty="0"/>
              <a:t>We will study and implement algorithms/techniques to extract patterns from data without having labels.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68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Descriptive methods: A very important part that is different from traditional ML. A recent trend that goes towards that is explainable AI. For data mining, “human-interpretable” is fundamental.</a:t>
            </a:r>
          </a:p>
          <a:p>
            <a:endParaRPr lang="en-US" dirty="0"/>
          </a:p>
          <a:p>
            <a:r>
              <a:rPr lang="en-US" dirty="0"/>
              <a:t>Predictive methods: Without having labels, we will try to understand what are the underlying patterns in the data of value to us.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24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B60AC-8779-3267-70EA-AA2EADC3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DA014-A28D-4770-3F3E-82034BCE3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29826-065F-AF32-F8EA-3A7E0191E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difference between Data Mining and ML; why should we study it?</a:t>
            </a:r>
          </a:p>
          <a:p>
            <a:endParaRPr lang="en-US" dirty="0"/>
          </a:p>
          <a:p>
            <a:r>
              <a:rPr lang="en-US" dirty="0"/>
              <a:t>Example: Learning using an NN – we don’t know or care about the structure of our data. In fact, we want to encourage the model to find a </a:t>
            </a:r>
            <a:r>
              <a:rPr lang="en-US" i="1" dirty="0"/>
              <a:t>useful</a:t>
            </a:r>
            <a:r>
              <a:rPr lang="en-US" i="0" dirty="0"/>
              <a:t> latent representation </a:t>
            </a:r>
            <a:r>
              <a:rPr lang="en-US" i="0" dirty="0" err="1"/>
              <a:t>w.r.t.</a:t>
            </a:r>
            <a:r>
              <a:rPr lang="en-US" i="0" dirty="0"/>
              <a:t> our task (e.g., classifying dogs vs. cats). Instead of feature engineering, we do </a:t>
            </a:r>
            <a:r>
              <a:rPr lang="en-US" i="1" dirty="0"/>
              <a:t>representation learning</a:t>
            </a:r>
            <a:r>
              <a:rPr lang="en-US" i="0" dirty="0"/>
              <a:t>.</a:t>
            </a:r>
          </a:p>
          <a:p>
            <a:endParaRPr lang="en-US" i="0" dirty="0"/>
          </a:p>
          <a:p>
            <a:r>
              <a:rPr lang="en-US" i="0" dirty="0"/>
              <a:t>This directly connects to the last point. We usually do not have such a function. Data Mining, instead, is more of an explorative process for finding interesting patterns.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D03BA-38B4-E2F0-A93A-A668455A0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11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60C90-4E13-27A9-A9A0-D35488D56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E3AD0-48D2-3CB6-E36C-4824B1018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8F7AB-C860-A8EB-2677-961AAA582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definition, as you see, is not strict. And that’s how this course is going to be, too.</a:t>
            </a:r>
          </a:p>
          <a:p>
            <a:endParaRPr lang="en-US" dirty="0"/>
          </a:p>
          <a:p>
            <a:r>
              <a:rPr lang="en-US" dirty="0"/>
              <a:t>Every lecture is its own theme where we focus on a specific theme in data mining.</a:t>
            </a:r>
          </a:p>
          <a:p>
            <a:r>
              <a:rPr lang="en-US" dirty="0"/>
              <a:t>Note there is not necessarily a connection between these themes.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778C1-3D6D-B8F9-7CC0-880141DD2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0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1B513-2710-D5CB-F45C-A8618B939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9EDDC-6DB8-9606-A72B-6F82FC419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2BA25F-E725-ED64-D96F-3409EDD41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Validity means also generalizability.</a:t>
            </a:r>
          </a:p>
          <a:p>
            <a:r>
              <a:rPr lang="en-US" dirty="0"/>
              <a:t>Usefulness: For example, support decision-making or further exploration.</a:t>
            </a:r>
          </a:p>
          <a:p>
            <a:r>
              <a:rPr lang="en-US" dirty="0"/>
              <a:t>Unexpected: In other words, non-trivial.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81F36-AA84-DE0D-4B5A-D3AE876B7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95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3CD7-FDE3-B3B5-36C0-E6061C6E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27791-49CB-6BA8-56DB-DF34532B0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4D4FC-9BA8-DE26-DC4E-2F25FDD7D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connects to what we said earlier about inductive bias. This example here is, albeit being very simple, a prime example for data mining.</a:t>
            </a:r>
            <a:endParaRPr lang="en-SE" dirty="0"/>
          </a:p>
          <a:p>
            <a:endParaRPr lang="en-US" dirty="0"/>
          </a:p>
          <a:p>
            <a:r>
              <a:rPr lang="en-US" dirty="0"/>
              <a:t>Our assumption here is the inductive/learning bias.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 you see, one goal is that the mined patterns/knowledge is easier to understand than the actual data. Mining a million parameters from a million datapoints would be useless.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803F4-D703-3D20-605C-B48219EE6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44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CE5C5-A4CC-39E0-02BE-F9839EB9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5EBC0A-FD77-0C2D-80A2-B74E65EEB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AD3C8-EEB9-EB47-BB89-8AF4A882A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Separating the datasets into cohesive groups.</a:t>
            </a:r>
          </a:p>
          <a:p>
            <a:endParaRPr lang="en-US" dirty="0"/>
          </a:p>
          <a:p>
            <a:r>
              <a:rPr lang="en-US" dirty="0"/>
              <a:t>When applying clustering, there is, again, an assumption (inductive bias) that such groups exist.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64C86-2AFA-8F3C-2ABC-4E15712C3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50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D77DD-9C5E-2305-95A2-85464BFA0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285F1-D3A1-737F-658D-6C266D069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196B2-4616-86DB-833D-A16EEC8AC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example, we need to think about (kinds of) distances.</a:t>
            </a:r>
          </a:p>
          <a:p>
            <a:endParaRPr lang="en-US" dirty="0"/>
          </a:p>
          <a:p>
            <a:r>
              <a:rPr lang="en-US" dirty="0"/>
              <a:t>For example, what about Euclidean distance? In high dimensions, it does not work well.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7A1DE-9180-FD93-9598-D0B34CBB0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4A77A-7BF8-4406-A7D7-47E36254EE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66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4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0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9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63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5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0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5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17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3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8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4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65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-users.cse.umn.edu/~kumar001/dmbook/index.php" TargetMode="External"/><Relationship Id="rId2" Type="http://schemas.openxmlformats.org/officeDocument/2006/relationships/hyperlink" Target="http://www.mmds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eb.stanford.edu/~hastie/ISLRv2_website.pdf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mmds.org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5CB7D9-E3E0-67CA-815D-92C6FCD7E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27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357F6-AA3E-0475-D856-A9B4CBAF7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DE" sz="3400" dirty="0"/>
              <a:t>Data Mining HT26 (4DV510/4DT910), 5hp</a:t>
            </a: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350CC-BFDE-9FA8-E52C-F0168393A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DE" sz="2000" dirty="0"/>
              <a:t>Introduction, 1.9.2026</a:t>
            </a:r>
            <a:endParaRPr 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8613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7A21-1F88-A028-647D-9C139BB9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Welcome!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4CEC6-5332-EFFD-1127-10FE31C46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dirty="0"/>
              <a:t>Today:</a:t>
            </a:r>
          </a:p>
          <a:p>
            <a:r>
              <a:rPr lang="en-DE" dirty="0"/>
              <a:t>About the course</a:t>
            </a:r>
          </a:p>
          <a:p>
            <a:pPr lvl="1"/>
            <a:r>
              <a:rPr lang="en-DE" dirty="0"/>
              <a:t>Teachers</a:t>
            </a:r>
          </a:p>
          <a:p>
            <a:pPr lvl="1"/>
            <a:r>
              <a:rPr lang="en-DE" dirty="0"/>
              <a:t>Prerequisites, Examination</a:t>
            </a:r>
          </a:p>
          <a:p>
            <a:pPr lvl="1"/>
            <a:r>
              <a:rPr lang="en-DE" dirty="0"/>
              <a:t>Projects</a:t>
            </a:r>
          </a:p>
          <a:p>
            <a:r>
              <a:rPr lang="en-DE" dirty="0"/>
              <a:t>Brief introduction to Data Mining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99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030E-8B68-7C62-ECE4-0B7B2B5D3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Teachers and Staff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90D351-A86B-C0CB-0ED2-388B6AF6C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4027050"/>
          </a:xfrm>
        </p:spPr>
        <p:txBody>
          <a:bodyPr>
            <a:normAutofit fontScale="62500" lnSpcReduction="20000"/>
          </a:bodyPr>
          <a:lstStyle/>
          <a:p>
            <a:r>
              <a:rPr lang="en-DE" b="1" dirty="0"/>
              <a:t>Sebastian Hönel</a:t>
            </a:r>
            <a:r>
              <a:rPr lang="en-DE" dirty="0"/>
              <a:t>: Course Responsible, Teacher</a:t>
            </a:r>
          </a:p>
          <a:p>
            <a:r>
              <a:rPr lang="en-DE" b="1" dirty="0"/>
              <a:t>Alisa Lincke</a:t>
            </a:r>
            <a:r>
              <a:rPr lang="en-DE" dirty="0"/>
              <a:t>: Teacher</a:t>
            </a:r>
          </a:p>
          <a:p>
            <a:r>
              <a:rPr lang="en-DE" b="1" dirty="0"/>
              <a:t>Claudio Linhares</a:t>
            </a:r>
            <a:r>
              <a:rPr lang="en-DE" dirty="0"/>
              <a:t>: Examinator</a:t>
            </a:r>
          </a:p>
          <a:p>
            <a:r>
              <a:rPr lang="en-DE" b="1" dirty="0"/>
              <a:t>Parisa Salmanian</a:t>
            </a:r>
            <a:r>
              <a:rPr lang="en-DE" dirty="0"/>
              <a:t>: Teaching Assistant (tutorial sessions)</a:t>
            </a:r>
          </a:p>
          <a:p>
            <a:endParaRPr lang="en-DE" dirty="0"/>
          </a:p>
          <a:p>
            <a:pPr marL="0" indent="0">
              <a:buNone/>
            </a:pPr>
            <a:r>
              <a:rPr lang="en-DE" dirty="0"/>
              <a:t>Communication:</a:t>
            </a:r>
          </a:p>
          <a:p>
            <a:pPr marL="627063"/>
            <a:r>
              <a:rPr lang="en-DE" dirty="0"/>
              <a:t>For questions and discussions about the course, we recommend you use the </a:t>
            </a:r>
            <a:r>
              <a:rPr lang="en-DE" b="1" dirty="0"/>
              <a:t>Moodle forums</a:t>
            </a:r>
            <a:r>
              <a:rPr lang="en-DE" dirty="0"/>
              <a:t>. Does everybody have access? No? Please come forward!</a:t>
            </a:r>
          </a:p>
          <a:p>
            <a:pPr marL="627063"/>
            <a:r>
              <a:rPr lang="en-DE" dirty="0"/>
              <a:t>Questions and help for the project: Contact Parisa first and </a:t>
            </a:r>
            <a:r>
              <a:rPr lang="en-DE" b="1" dirty="0"/>
              <a:t>come to the tutorials!</a:t>
            </a:r>
          </a:p>
          <a:p>
            <a:pPr marL="627063"/>
            <a:r>
              <a:rPr lang="en-DE" dirty="0"/>
              <a:t>All submissions are done via Moodle exclusively.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812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E6AE-BB3D-4580-20F2-A7F846F7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Literature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2B819-F73D-71B6-3BBF-4B75AE4E8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Mining of Massive Datasets (</a:t>
            </a:r>
            <a:r>
              <a:rPr lang="en-US" b="1" dirty="0"/>
              <a:t>MMDS</a:t>
            </a:r>
            <a:r>
              <a:rPr lang="en-US" dirty="0"/>
              <a:t>)</a:t>
            </a:r>
            <a:r>
              <a:rPr lang="en-DE" dirty="0"/>
              <a:t> </a:t>
            </a:r>
            <a:r>
              <a:rPr lang="en-US" dirty="0"/>
              <a:t>by Leskovec, Rajaraman, and Ullman</a:t>
            </a:r>
            <a:r>
              <a:rPr lang="en-DE" dirty="0"/>
              <a:t>; </a:t>
            </a:r>
            <a:r>
              <a:rPr lang="en-DE" dirty="0">
                <a:hlinkClick r:id="rId2"/>
              </a:rPr>
              <a:t>http://www.mmds.org/</a:t>
            </a:r>
            <a:endParaRPr lang="en-DE" dirty="0"/>
          </a:p>
          <a:p>
            <a:r>
              <a:rPr lang="en-DE" dirty="0"/>
              <a:t> </a:t>
            </a:r>
            <a:r>
              <a:rPr lang="en-US" dirty="0"/>
              <a:t>Introduction to Data Mining, 2nd ed., Pearson, 2020</a:t>
            </a:r>
            <a:r>
              <a:rPr lang="en-DE" dirty="0"/>
              <a:t> by </a:t>
            </a:r>
            <a:r>
              <a:rPr lang="de-DE" dirty="0"/>
              <a:t>Tan, P.-N., Steinbach, M., Karpatne, A., &amp; Kumar, V.</a:t>
            </a:r>
            <a:r>
              <a:rPr lang="en-DE" dirty="0"/>
              <a:t>; </a:t>
            </a:r>
            <a:r>
              <a:rPr lang="en-DE" dirty="0">
                <a:hlinkClick r:id="rId3"/>
              </a:rPr>
              <a:t>https://www-users.cse.umn.edu/~kumar001/dmbook/index.php</a:t>
            </a:r>
            <a:endParaRPr lang="en-DE" dirty="0"/>
          </a:p>
          <a:p>
            <a:r>
              <a:rPr lang="en-US" dirty="0"/>
              <a:t>An Introduction to Statistical Learning (</a:t>
            </a:r>
            <a:r>
              <a:rPr lang="en-US" b="1" dirty="0"/>
              <a:t>ISLR</a:t>
            </a:r>
            <a:r>
              <a:rPr lang="en-US" dirty="0"/>
              <a:t>)</a:t>
            </a:r>
            <a:r>
              <a:rPr lang="en-DE" dirty="0"/>
              <a:t> by </a:t>
            </a:r>
            <a:r>
              <a:rPr lang="en-US" dirty="0"/>
              <a:t>James, Witten, Hastie, and </a:t>
            </a:r>
            <a:r>
              <a:rPr lang="en-US" dirty="0" err="1"/>
              <a:t>Tibshirani</a:t>
            </a:r>
            <a:r>
              <a:rPr lang="en-DE" dirty="0"/>
              <a:t>; </a:t>
            </a:r>
            <a:r>
              <a:rPr lang="en-DE" dirty="0">
                <a:hlinkClick r:id="rId4"/>
              </a:rPr>
              <a:t>https://web.stanford.edu/~hastie/ISLRv2_website.pdf</a:t>
            </a:r>
            <a:r>
              <a:rPr lang="en-DE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78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0A69-D06B-D5D2-1FEA-0CDDA66A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Activities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56361-F0A2-5D7D-CE97-03E13E941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 Introduction + 3 + 4 Lectures (7 themes; Tuesdays)</a:t>
            </a:r>
          </a:p>
          <a:p>
            <a:r>
              <a:rPr lang="en-US" dirty="0"/>
              <a:t>A project that involves 4 themes of your choice. Groups of 3.</a:t>
            </a:r>
          </a:p>
          <a:p>
            <a:r>
              <a:rPr lang="en-US" dirty="0"/>
              <a:t>An intermediate presentation of your project after lecture 4.</a:t>
            </a:r>
          </a:p>
          <a:p>
            <a:pPr lvl="1"/>
            <a:r>
              <a:rPr lang="en-US" dirty="0"/>
              <a:t>Week 39 on September 22</a:t>
            </a:r>
            <a:r>
              <a:rPr lang="en-US" baseline="30000" dirty="0"/>
              <a:t>nd</a:t>
            </a:r>
            <a:r>
              <a:rPr lang="en-US" dirty="0"/>
              <a:t>.</a:t>
            </a:r>
          </a:p>
          <a:p>
            <a:r>
              <a:rPr lang="en-US" dirty="0"/>
              <a:t>1 + 6 Tutorial sessions</a:t>
            </a:r>
          </a:p>
          <a:p>
            <a:pPr lvl="1"/>
            <a:r>
              <a:rPr lang="en-US" dirty="0"/>
              <a:t>You need to present your project idea during the first one.</a:t>
            </a:r>
          </a:p>
          <a:p>
            <a:r>
              <a:rPr lang="en-US" dirty="0"/>
              <a:t>Final presentation in week 44 (October 27</a:t>
            </a:r>
            <a:r>
              <a:rPr lang="en-US" baseline="30000" dirty="0"/>
              <a:t>th</a:t>
            </a:r>
            <a:r>
              <a:rPr lang="en-US" dirty="0"/>
              <a:t>).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62914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CD25-8642-87E8-4D66-16BA0757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Examination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657C1-759D-7398-9E0E-D4430FA88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43651"/>
            <a:ext cx="10168128" cy="369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E" sz="2400" dirty="0"/>
              <a:t>Note that 4DV510 and 4DT910 have </a:t>
            </a:r>
            <a:r>
              <a:rPr lang="en-DE" sz="2400" b="1" dirty="0"/>
              <a:t>different </a:t>
            </a:r>
            <a:r>
              <a:rPr lang="en-DE" sz="2400" dirty="0"/>
              <a:t>examination forms.</a:t>
            </a:r>
          </a:p>
          <a:p>
            <a:pPr marL="0" indent="0">
              <a:buNone/>
            </a:pPr>
            <a:r>
              <a:rPr lang="en-DE" sz="2400" dirty="0"/>
              <a:t>However, to give one coherent course, we would like to examine by the rules of </a:t>
            </a:r>
            <a:r>
              <a:rPr lang="en-DE" sz="2400" strike="sngStrike" dirty="0"/>
              <a:t>4DV510 </a:t>
            </a:r>
            <a:r>
              <a:rPr lang="en-DE" sz="2400" b="1" strike="sngStrike" dirty="0"/>
              <a:t>only</a:t>
            </a:r>
            <a:r>
              <a:rPr lang="en-DE" sz="2400" dirty="0"/>
              <a:t>. See next slide.</a:t>
            </a:r>
          </a:p>
          <a:p>
            <a:pPr marL="0" indent="0">
              <a:buNone/>
            </a:pPr>
            <a:r>
              <a:rPr lang="en-DE" sz="2400" dirty="0"/>
              <a:t>Any objections?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1838F6-31AC-E012-1285-2F22FE123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774906"/>
              </p:ext>
            </p:extLst>
          </p:nvPr>
        </p:nvGraphicFramePr>
        <p:xfrm>
          <a:off x="2032000" y="4520156"/>
          <a:ext cx="81280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241749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14849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4DV510 / 5hp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4DT910 / 5hp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080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DE" dirty="0"/>
                        <a:t>Written exam, 3hp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DE" b="1" dirty="0"/>
                        <a:t>Programming project, 2hp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dirty="0"/>
                        <a:t>Oral exam, 1hp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b="1" dirty="0"/>
                        <a:t>Programming project, 2hp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dirty="0"/>
                        <a:t>Programming assignments, 1hp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dirty="0"/>
                        <a:t>Reflection report, 1hp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609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20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F6A8-0A13-361E-A92E-FF41429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199EE-D074-819A-2925-D0B87E492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Examination </a:t>
            </a:r>
            <a:r>
              <a:rPr lang="en-DE" sz="2800" dirty="0"/>
              <a:t>(cont’d)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9671F-69FB-A213-0A84-A56E66442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7" y="2143650"/>
            <a:ext cx="10643295" cy="456195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DE" dirty="0"/>
              <a:t>The written exam accounts for 60% of your grade (4DV510).</a:t>
            </a:r>
          </a:p>
          <a:p>
            <a:pPr marL="0" indent="0">
              <a:buNone/>
            </a:pPr>
            <a:r>
              <a:rPr lang="en-DE" dirty="0"/>
              <a:t>The oral exam accounts for 20% of your grade (4DT910).</a:t>
            </a:r>
          </a:p>
          <a:p>
            <a:pPr marL="538163">
              <a:tabLst>
                <a:tab pos="538163" algn="l"/>
              </a:tabLst>
            </a:pPr>
            <a:r>
              <a:rPr lang="en-DE" dirty="0"/>
              <a:t>For 4DT910, you will have to additionally hand in 2 assignments (20%) and an extended, individual reflection report (20%). The report should be between 2-4 pages and cover your lessons learned, your individual contributions, what key choices you made, how trustworthy and valid the obtained results are, etc. (see Moodle).</a:t>
            </a:r>
          </a:p>
          <a:p>
            <a:pPr marL="0" indent="0">
              <a:buNone/>
            </a:pPr>
            <a:r>
              <a:rPr lang="en-DE" dirty="0"/>
              <a:t>The project accounts for 40% of your grade.</a:t>
            </a:r>
          </a:p>
          <a:p>
            <a:pPr marL="0" indent="0">
              <a:buNone/>
            </a:pPr>
            <a:r>
              <a:rPr lang="en-DE" dirty="0"/>
              <a:t>You need to obtain a passing-grade (&gt;=60%) for each moment individually, to pass the course.</a:t>
            </a:r>
          </a:p>
          <a:p>
            <a:pPr marL="0" indent="0">
              <a:buNone/>
            </a:pPr>
            <a:endParaRPr lang="en-DE" sz="1700" dirty="0"/>
          </a:p>
          <a:p>
            <a:pPr marL="0" indent="0">
              <a:buNone/>
            </a:pPr>
            <a:r>
              <a:rPr lang="en-DE" dirty="0"/>
              <a:t>Re-take policy:</a:t>
            </a:r>
          </a:p>
          <a:p>
            <a:pPr marL="538163"/>
            <a:r>
              <a:rPr lang="en-DE" dirty="0"/>
              <a:t>There is one re-take each for the exam and each presentation.</a:t>
            </a:r>
          </a:p>
          <a:p>
            <a:pPr marL="538163"/>
            <a:r>
              <a:rPr lang="en-DE" dirty="0"/>
              <a:t>Late submissions count as fail – no exceptions, no extensions.</a:t>
            </a:r>
          </a:p>
          <a:p>
            <a:pPr marL="0" indent="0">
              <a:buNone/>
            </a:pPr>
            <a:endParaRPr lang="en-DE" sz="1500" dirty="0"/>
          </a:p>
          <a:p>
            <a:pPr marL="0" indent="0">
              <a:buNone/>
            </a:pPr>
            <a:r>
              <a:rPr lang="en-DE" dirty="0"/>
              <a:t>Prerequisites:</a:t>
            </a:r>
          </a:p>
          <a:p>
            <a:pPr marL="538163" indent="-273050"/>
            <a:r>
              <a:rPr lang="en-DE" dirty="0"/>
              <a:t>4DV660 (or equivalent)</a:t>
            </a:r>
          </a:p>
          <a:p>
            <a:pPr marL="538163" indent="-273050"/>
            <a:r>
              <a:rPr lang="en-DE" dirty="0"/>
              <a:t>English 6/B (or equivalent)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3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49C9-23FD-D025-F0A4-4BCD4469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F5E33-1B42-6292-207D-B31BB1B00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3"/>
            <a:ext cx="10168128" cy="4155387"/>
          </a:xfrm>
        </p:spPr>
        <p:txBody>
          <a:bodyPr>
            <a:normAutofit fontScale="85000" lnSpcReduction="20000"/>
          </a:bodyPr>
          <a:lstStyle/>
          <a:p>
            <a:r>
              <a:rPr lang="en-DE" dirty="0"/>
              <a:t>You need to conduct a data mining project (</a:t>
            </a:r>
            <a:r>
              <a:rPr lang="en-DE" b="1" dirty="0"/>
              <a:t>in Python</a:t>
            </a:r>
            <a:r>
              <a:rPr lang="en-DE" dirty="0"/>
              <a:t>) over the duration of the course. It accounts for 40% of your grade.</a:t>
            </a:r>
          </a:p>
          <a:p>
            <a:pPr lvl="1"/>
            <a:r>
              <a:rPr lang="en-DE" dirty="0"/>
              <a:t>You will have an intermediate presentation </a:t>
            </a:r>
            <a:r>
              <a:rPr lang="en-DE" b="1" dirty="0"/>
              <a:t>after four </a:t>
            </a:r>
            <a:r>
              <a:rPr lang="en-DE" dirty="0"/>
              <a:t>lectures.</a:t>
            </a:r>
          </a:p>
          <a:p>
            <a:pPr lvl="1"/>
            <a:r>
              <a:rPr lang="en-DE" dirty="0"/>
              <a:t>After the final presentation, you need to submit your (working!) code and a project report (1-2p).</a:t>
            </a:r>
          </a:p>
          <a:p>
            <a:r>
              <a:rPr lang="en-DE" dirty="0"/>
              <a:t>You are working in groups of 3.</a:t>
            </a:r>
          </a:p>
          <a:p>
            <a:r>
              <a:rPr lang="en-DE" dirty="0"/>
              <a:t>During the first tutorial session, you have to propose a project and tell us who is in your group.</a:t>
            </a:r>
          </a:p>
          <a:p>
            <a:r>
              <a:rPr lang="en-DE" dirty="0"/>
              <a:t>On Moodle, the </a:t>
            </a:r>
            <a:r>
              <a:rPr lang="en-DE" b="1" dirty="0"/>
              <a:t>Project Master Document</a:t>
            </a:r>
            <a:r>
              <a:rPr lang="en-DE" dirty="0"/>
              <a:t> outlines everything you need to know!</a:t>
            </a:r>
          </a:p>
          <a:p>
            <a:pPr lvl="1"/>
            <a:r>
              <a:rPr lang="en-DE" dirty="0"/>
              <a:t>The course has </a:t>
            </a:r>
            <a:r>
              <a:rPr lang="en-DE" b="1" dirty="0"/>
              <a:t>seven themes</a:t>
            </a:r>
            <a:r>
              <a:rPr lang="en-DE" dirty="0"/>
              <a:t>, your project needs to </a:t>
            </a:r>
            <a:r>
              <a:rPr lang="en-DE" b="1" dirty="0"/>
              <a:t>cover four</a:t>
            </a:r>
            <a:r>
              <a:rPr lang="en-DE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23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D84E-AC8A-5B9A-3D27-2BF4E837F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E8051-03F1-CC86-E7F8-F38E7C0D5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3"/>
            <a:ext cx="10168128" cy="430461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After completion of the course, students will be able to:</a:t>
            </a:r>
          </a:p>
          <a:p>
            <a:r>
              <a:rPr lang="en-US" b="1" dirty="0"/>
              <a:t>Explain</a:t>
            </a:r>
            <a:r>
              <a:rPr lang="en-US" dirty="0"/>
              <a:t> fundamental data-mining concepts and principles, including distance measures, dimensionality reduction, and clustering. </a:t>
            </a:r>
          </a:p>
          <a:p>
            <a:r>
              <a:rPr lang="en-US" b="1" dirty="0"/>
              <a:t>Describe</a:t>
            </a:r>
            <a:r>
              <a:rPr lang="en-US" dirty="0"/>
              <a:t> current developments, techniques, and applications in data mining. </a:t>
            </a:r>
          </a:p>
          <a:p>
            <a:r>
              <a:rPr lang="en-US" b="1" dirty="0"/>
              <a:t>Design and plan </a:t>
            </a:r>
            <a:r>
              <a:rPr lang="en-US" dirty="0"/>
              <a:t>a data-mining pipeline for a given dataset or data stream, selecting suitable methods and assessing expected output quality. </a:t>
            </a:r>
          </a:p>
          <a:p>
            <a:r>
              <a:rPr lang="en-US" b="1" dirty="0"/>
              <a:t>Implement efficiently </a:t>
            </a:r>
            <a:r>
              <a:rPr lang="en-US" dirty="0"/>
              <a:t>selected foundational algorithms, such as Multidimensional Scaling (MDS) and DBSCAN clustering. </a:t>
            </a:r>
          </a:p>
          <a:p>
            <a:r>
              <a:rPr lang="en-US" b="1" dirty="0"/>
              <a:t>Apply</a:t>
            </a:r>
            <a:r>
              <a:rPr lang="en-US" dirty="0"/>
              <a:t> appropriate existing tools and software libraries to extract insights from structured or unstructured datasets and data streams.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045115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0219-A8A2-48D1-7E26-BBBD6CAA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4D6F6-0EE6-6FDF-1F16-68690FBD3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You need to divide yourselves into groups of 3.</a:t>
            </a:r>
          </a:p>
          <a:p>
            <a:r>
              <a:rPr lang="en-US" dirty="0"/>
              <a:t>You need to produce a project proposal and a small presentation of it (5 mins max., because we need to be able to give you feedback).</a:t>
            </a:r>
          </a:p>
          <a:p>
            <a:r>
              <a:rPr lang="en-US" dirty="0"/>
              <a:t>This proposal is to be presented during the first tutorial session (mandatory) on September 10</a:t>
            </a:r>
            <a:r>
              <a:rPr lang="en-US" baseline="30000" dirty="0"/>
              <a:t>th</a:t>
            </a:r>
            <a:r>
              <a:rPr lang="en-US" dirty="0"/>
              <a:t>.</a:t>
            </a:r>
          </a:p>
          <a:p>
            <a:r>
              <a:rPr lang="en-US" dirty="0"/>
              <a:t>You need to incorporate our feedback and submit that proposal </a:t>
            </a:r>
            <a:r>
              <a:rPr lang="en-US" b="1" dirty="0"/>
              <a:t>that same day</a:t>
            </a:r>
            <a:r>
              <a:rPr lang="en-US" dirty="0"/>
              <a:t>.</a:t>
            </a:r>
          </a:p>
          <a:p>
            <a:r>
              <a:rPr lang="en-US" dirty="0"/>
              <a:t>You will get feedback from us latest the next day. Don’t start before!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802504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AAD74-2A82-6CAF-22D8-5F1804002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Thank you!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D17B9-C704-C6DE-C871-57ACEAE23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DE" dirty="0"/>
          </a:p>
          <a:p>
            <a:pPr marL="0" indent="0" algn="ctr">
              <a:buNone/>
            </a:pPr>
            <a:r>
              <a:rPr lang="en-DE" dirty="0"/>
              <a:t>Any questions?</a:t>
            </a:r>
          </a:p>
          <a:p>
            <a:pPr marL="0" indent="0" algn="ctr">
              <a:buNone/>
            </a:pPr>
            <a:r>
              <a:rPr lang="en-DE" dirty="0"/>
              <a:t>(otherwise, we’ll proceed with the introduction...)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69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2A1B36-1954-B91C-1385-691DC1F7B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37285" cy="1645920"/>
          </a:xfrm>
        </p:spPr>
        <p:txBody>
          <a:bodyPr>
            <a:normAutofit/>
          </a:bodyPr>
          <a:lstStyle/>
          <a:p>
            <a:r>
              <a:rPr lang="en-US" sz="3200"/>
              <a:t>Introduction – What is Data Mining?</a:t>
            </a:r>
            <a:endParaRPr lang="en-SE" sz="3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140521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6E5BB-EA7D-0CD5-3829-A5CC9CCAA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Every day, an enormous amount of data is produced.</a:t>
            </a:r>
          </a:p>
          <a:p>
            <a:pPr marL="0" indent="0">
              <a:buNone/>
            </a:pPr>
            <a:r>
              <a:rPr lang="en-US" sz="1800" dirty="0"/>
              <a:t>How </a:t>
            </a:r>
            <a:r>
              <a:rPr lang="en-DE" sz="1800" dirty="0"/>
              <a:t>t</a:t>
            </a:r>
            <a:r>
              <a:rPr lang="en-US" sz="1800" dirty="0"/>
              <a:t>o make good use of it? Often the answer</a:t>
            </a:r>
            <a:r>
              <a:rPr lang="en-DE" sz="1800"/>
              <a:t>s</a:t>
            </a:r>
            <a:r>
              <a:rPr lang="en-US" sz="1800"/>
              <a:t> are</a:t>
            </a:r>
            <a:r>
              <a:rPr lang="en-US" sz="1800" dirty="0"/>
              <a:t>:</a:t>
            </a:r>
          </a:p>
          <a:p>
            <a:r>
              <a:rPr lang="en-US" sz="1800" dirty="0"/>
              <a:t>Machine learning</a:t>
            </a:r>
          </a:p>
          <a:p>
            <a:r>
              <a:rPr lang="en-US" sz="1800" dirty="0"/>
              <a:t>Statistical modelling</a:t>
            </a:r>
          </a:p>
          <a:p>
            <a:endParaRPr lang="en-SE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ABF36B-D419-B7B4-F17F-1212B6330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213" y="2570609"/>
            <a:ext cx="9112043" cy="40092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D166B3-4468-3ACD-2B95-DBA01F003551}"/>
              </a:ext>
            </a:extLst>
          </p:cNvPr>
          <p:cNvSpPr txBox="1"/>
          <p:nvPr/>
        </p:nvSpPr>
        <p:spPr>
          <a:xfrm>
            <a:off x="10402111" y="5194913"/>
            <a:ext cx="131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Slides based on material by</a:t>
            </a:r>
          </a:p>
          <a:p>
            <a:r>
              <a:rPr lang="en-US" sz="1200" dirty="0"/>
              <a:t>Leskovec, Rajaraman, and Ullman;</a:t>
            </a:r>
          </a:p>
          <a:p>
            <a:r>
              <a:rPr lang="en-US" sz="1200" dirty="0">
                <a:hlinkClick r:id="rId4"/>
              </a:rPr>
              <a:t>http://www.mmds.org</a:t>
            </a:r>
            <a:r>
              <a:rPr lang="en-US" sz="1200" dirty="0"/>
              <a:t> </a:t>
            </a:r>
            <a:endParaRPr lang="en-SE" sz="1200" dirty="0"/>
          </a:p>
        </p:txBody>
      </p:sp>
    </p:spTree>
    <p:extLst>
      <p:ext uri="{BB962C8B-B14F-4D97-AF65-F5344CB8AC3E}">
        <p14:creationId xmlns:p14="http://schemas.microsoft.com/office/powerpoint/2010/main" val="3352510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0C38-38F8-C9C1-D74A-90C054D2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3C724-EE08-5E83-D5A0-51606C6E7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is the process of extracting and finding patterns in massive data sets involving methods at the </a:t>
            </a:r>
            <a:r>
              <a:rPr lang="en-US" i="1" dirty="0"/>
              <a:t>intersection</a:t>
            </a:r>
            <a:r>
              <a:rPr lang="en-US" dirty="0"/>
              <a:t> of machine learning, statistics, and database systems [1].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Involved paradigms are, for example: Pre-processing, Unsupervised learning, Pattern extraction, Visual analytics, Knowledge discovery, and more.</a:t>
            </a:r>
          </a:p>
          <a:p>
            <a:pPr marL="0" indent="0">
              <a:buNone/>
            </a:pPr>
            <a:endParaRPr lang="en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62DE1-43CC-5BE6-8410-2AFA4195D906}"/>
              </a:ext>
            </a:extLst>
          </p:cNvPr>
          <p:cNvSpPr txBox="1"/>
          <p:nvPr/>
        </p:nvSpPr>
        <p:spPr>
          <a:xfrm>
            <a:off x="1725105" y="6309360"/>
            <a:ext cx="9558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[1] Data Mining Curriculum: A Proposal. SIGKDD, 2013, ACM.</a:t>
            </a:r>
            <a:endParaRPr lang="en-SE" sz="1600" dirty="0"/>
          </a:p>
        </p:txBody>
      </p:sp>
    </p:spTree>
    <p:extLst>
      <p:ext uri="{BB962C8B-B14F-4D97-AF65-F5344CB8AC3E}">
        <p14:creationId xmlns:p14="http://schemas.microsoft.com/office/powerpoint/2010/main" val="597449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C945-CBA5-BFB4-39EA-ACF5C1083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40B4C-73CF-479A-3EAD-AAA24823C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6699253" cy="420558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It is very hard to define data mining in</a:t>
            </a:r>
          </a:p>
          <a:p>
            <a:pPr marL="0" indent="0">
              <a:buNone/>
            </a:pPr>
            <a:r>
              <a:rPr lang="en-US" dirty="0"/>
              <a:t>objective terms.</a:t>
            </a:r>
          </a:p>
          <a:p>
            <a:pPr marL="536575" indent="-357188"/>
            <a:r>
              <a:rPr lang="en-US" dirty="0"/>
              <a:t>For the purposes of this course, it is </a:t>
            </a:r>
            <a:r>
              <a:rPr lang="en-US" b="1" dirty="0"/>
              <a:t>NOT </a:t>
            </a:r>
            <a:r>
              <a:rPr lang="en-US" dirty="0"/>
              <a:t>Supervised Machine Learning.</a:t>
            </a:r>
          </a:p>
          <a:p>
            <a:pPr marL="536575" indent="-357188"/>
            <a:r>
              <a:rPr lang="en-US" dirty="0"/>
              <a:t>It is also </a:t>
            </a:r>
            <a:r>
              <a:rPr lang="en-US" b="1" dirty="0"/>
              <a:t>not purely </a:t>
            </a:r>
            <a:r>
              <a:rPr lang="en-US" dirty="0"/>
              <a:t>statistical modeling, although there might be some of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general, we will think of data mining more as an algorithmical process rather than a mathematical or formal one.</a:t>
            </a:r>
          </a:p>
          <a:p>
            <a:pPr marL="0" indent="0">
              <a:buNone/>
            </a:pPr>
            <a:r>
              <a:rPr lang="en-US" dirty="0"/>
              <a:t>How many of you have taken an ML course before?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A4CB9-DE1F-AB3C-7695-44DAFE30A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75" y="2246607"/>
            <a:ext cx="3769151" cy="380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7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291F-3981-550B-98A8-BF3B6B082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F3BA7-E3A8-727D-2146-16E3868DE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935" y="2478024"/>
            <a:ext cx="6736960" cy="36941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The six common tasks are:</a:t>
            </a:r>
          </a:p>
          <a:p>
            <a:r>
              <a:rPr lang="en-US" dirty="0"/>
              <a:t>Anomaly (outlier/change/novelty/deviation) detection</a:t>
            </a:r>
          </a:p>
          <a:p>
            <a:r>
              <a:rPr lang="en-US" dirty="0"/>
              <a:t>Association rule learning (dependency modeling)</a:t>
            </a:r>
          </a:p>
          <a:p>
            <a:r>
              <a:rPr lang="en-US" dirty="0"/>
              <a:t>Clustering (groups and structure)</a:t>
            </a:r>
          </a:p>
          <a:p>
            <a:r>
              <a:rPr lang="en-US" dirty="0"/>
              <a:t>Classification</a:t>
            </a:r>
          </a:p>
          <a:p>
            <a:r>
              <a:rPr lang="en-US" dirty="0"/>
              <a:t>Regression (least-error modeling)</a:t>
            </a:r>
          </a:p>
          <a:p>
            <a:r>
              <a:rPr lang="en-US" dirty="0"/>
              <a:t>Summarization (compact representations; visualization, etc.)</a:t>
            </a:r>
            <a:endParaRPr lang="en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7AF32-D0F7-0FE3-B8C9-E204983D5D89}"/>
              </a:ext>
            </a:extLst>
          </p:cNvPr>
          <p:cNvSpPr txBox="1"/>
          <p:nvPr/>
        </p:nvSpPr>
        <p:spPr>
          <a:xfrm>
            <a:off x="7975076" y="2478024"/>
            <a:ext cx="377386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In this course, we will also do: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Data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Dimensionality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Text Mining</a:t>
            </a:r>
            <a:endParaRPr lang="en-SE" sz="2200" dirty="0"/>
          </a:p>
        </p:txBody>
      </p:sp>
    </p:spTree>
    <p:extLst>
      <p:ext uri="{BB962C8B-B14F-4D97-AF65-F5344CB8AC3E}">
        <p14:creationId xmlns:p14="http://schemas.microsoft.com/office/powerpoint/2010/main" val="3415887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BCA5-64C5-BC5B-7C5A-B44FF2CB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429DF-D967-4EF3-BBC3-C9B77BA73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6491863" cy="369417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Descriptive methods</a:t>
            </a:r>
            <a:r>
              <a:rPr lang="en-US" dirty="0"/>
              <a:t>: Find human-interpretable patterns that describe the data</a:t>
            </a:r>
          </a:p>
          <a:p>
            <a:pPr marL="536575" indent="-357188"/>
            <a:r>
              <a:rPr lang="en-US" dirty="0"/>
              <a:t>Example: Clustering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Predictive methods</a:t>
            </a:r>
            <a:r>
              <a:rPr lang="en-US" dirty="0"/>
              <a:t>: Use some variables to predict unknown or future values of other variables</a:t>
            </a:r>
          </a:p>
          <a:p>
            <a:pPr marL="536575" indent="-357188"/>
            <a:r>
              <a:rPr lang="en-US" dirty="0"/>
              <a:t>Example: Recommender systems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2076A-6757-4645-2F46-6147A64FE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75" y="2246607"/>
            <a:ext cx="3769151" cy="380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2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46FEA-B62F-8118-26B5-EF42D2868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06B1-4B39-705B-A43D-72790A9E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91B3E-C260-719C-D361-C72F09AB1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3"/>
            <a:ext cx="6491863" cy="42150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Machine Learning works better when…</a:t>
            </a:r>
          </a:p>
          <a:p>
            <a:pPr marL="536575" indent="-357188"/>
            <a:r>
              <a:rPr lang="en-US" dirty="0"/>
              <a:t>There are no underlying assumptions about the structure of the data and what parts of this structure will contribute to the solution.</a:t>
            </a:r>
          </a:p>
          <a:p>
            <a:pPr marL="536575" indent="-357188"/>
            <a:r>
              <a:rPr lang="en-US" dirty="0"/>
              <a:t>You don’t need to understand the solution, as long as it works.</a:t>
            </a:r>
          </a:p>
          <a:p>
            <a:pPr marL="536575" indent="-357188"/>
            <a:r>
              <a:rPr lang="en-US" dirty="0"/>
              <a:t>You have a specific objective cost function that serves as the goal of the learning process.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07E28-BEDE-34C4-F68B-7AF2FEF65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75" y="2246607"/>
            <a:ext cx="3769151" cy="380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749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D7CB-8457-99F2-E96B-A2822BA1C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ACFCE-12A2-FD38-E4C7-4D892120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499D-CFD1-A87E-377C-10028C289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3"/>
            <a:ext cx="6491863" cy="42150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 encourage you to think of data mining in general as a set of tools and techniques for extracting (hopefully) useful patterns from large datasets.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an intentionally broad and open definition, since the course is mainly centered around a loosely-coupled collection of techniques that may or may not be applicable in different scenarios.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02FD39-A17B-6D19-FA89-7CD1F2908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75" y="2246607"/>
            <a:ext cx="3769151" cy="380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62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CC053-2650-E3B4-0918-548AD877D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6EB0C-99E7-8928-A2B3-6D4BA5D3D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57B25-C66D-65FF-329E-4B2E18297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375" y="2355474"/>
            <a:ext cx="7029190" cy="443182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In other words…</a:t>
            </a:r>
          </a:p>
          <a:p>
            <a:pPr marL="0" indent="0">
              <a:buNone/>
            </a:pPr>
            <a:endParaRPr lang="en-US" sz="1100" dirty="0"/>
          </a:p>
          <a:p>
            <a:r>
              <a:rPr lang="en-US" dirty="0"/>
              <a:t>Given lots of data, discover patterns and models that are:</a:t>
            </a:r>
          </a:p>
          <a:p>
            <a:pPr lvl="1"/>
            <a:r>
              <a:rPr lang="en-US" b="1" dirty="0"/>
              <a:t>Valid</a:t>
            </a:r>
            <a:r>
              <a:rPr lang="en-US" dirty="0"/>
              <a:t>: they should hold on new data with some certainty</a:t>
            </a:r>
          </a:p>
          <a:p>
            <a:pPr lvl="1"/>
            <a:r>
              <a:rPr lang="en-US" b="1" dirty="0"/>
              <a:t>Useful</a:t>
            </a:r>
            <a:r>
              <a:rPr lang="en-US" dirty="0"/>
              <a:t>: should be possible to act on the item</a:t>
            </a:r>
          </a:p>
          <a:p>
            <a:pPr lvl="1"/>
            <a:r>
              <a:rPr lang="en-US" b="1" dirty="0"/>
              <a:t>Unexpected</a:t>
            </a:r>
            <a:r>
              <a:rPr lang="en-US" dirty="0"/>
              <a:t>: non-obvious to the system</a:t>
            </a:r>
          </a:p>
          <a:p>
            <a:pPr lvl="1"/>
            <a:r>
              <a:rPr lang="en-US" b="1" dirty="0"/>
              <a:t>Understandable</a:t>
            </a:r>
            <a:r>
              <a:rPr lang="en-US" dirty="0"/>
              <a:t>: humans should be able to interpret the pattern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0C5C2A-2E72-290B-7903-7C7E57A92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75" y="2246607"/>
            <a:ext cx="3769151" cy="380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71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0771A-11E0-30C4-FBB2-A8221B27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98470-A129-F463-5548-553C4E6A8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4062-0378-E0B7-41DF-733F5A26C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67" y="2355473"/>
            <a:ext cx="8456843" cy="479908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Simple example: consider that you have gathered a set of data points (numerical measurements), and you assume that the data comes from a Gaussian distribution.</a:t>
            </a:r>
          </a:p>
          <a:p>
            <a:pPr marL="0" indent="0">
              <a:buNone/>
            </a:pPr>
            <a:r>
              <a:rPr lang="en-US" dirty="0"/>
              <a:t>One way to analyze this data would be to create a model by extracting the mean and standard deviation that best describe the original distribution from which the data was sampled.</a:t>
            </a:r>
          </a:p>
          <a:p>
            <a:pPr marL="536575" indent="-357188"/>
            <a:r>
              <a:rPr lang="en-US" dirty="0"/>
              <a:t>No external labels to validate your hypothesis</a:t>
            </a:r>
          </a:p>
          <a:p>
            <a:pPr marL="536575" indent="-357188"/>
            <a:r>
              <a:rPr lang="en-US" dirty="0"/>
              <a:t>If your hypothesis is wrong, then your model is wrong.</a:t>
            </a:r>
          </a:p>
          <a:p>
            <a:pPr marL="536575" indent="-357188"/>
            <a:r>
              <a:rPr lang="en-US" dirty="0"/>
              <a:t>No specific, objective use for the information you extracted; it is simply new knowledge</a:t>
            </a:r>
          </a:p>
          <a:p>
            <a:pPr marL="536575" indent="-357188"/>
            <a:r>
              <a:rPr lang="en-US" dirty="0"/>
              <a:t>You have summarized your data set with two numbers (or: you mined the two parameters from your dataset).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90F0F6-2C17-4238-2D36-8D02B76E6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842" y="2246607"/>
            <a:ext cx="2735384" cy="275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23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292E-006E-EE0B-D9FE-27EAE1895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AC16-EED5-4E93-1409-3FC24C30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73BD2-A9FF-4DD0-6515-E3CB9EB19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67" y="2355474"/>
            <a:ext cx="8456843" cy="43295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Summarization is one of the main applications of data mining. One other common example of summarization is </a:t>
            </a:r>
            <a:r>
              <a:rPr lang="en-US" b="1" dirty="0"/>
              <a:t>clustering</a:t>
            </a:r>
            <a:r>
              <a:rPr lang="en-US" dirty="0"/>
              <a:t>: we (again) assume that there are groups of similar elements in the data set, and that finding such groups will be useful to us.</a:t>
            </a:r>
          </a:p>
          <a:p>
            <a:pPr marL="542925" indent="-357188"/>
            <a:r>
              <a:rPr lang="en-US" dirty="0"/>
              <a:t>Notice that many dataset have no such clear groups, but clustering algorithms will find them anyway.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585A3-02E1-11B9-025C-F1C8DD2E9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842" y="2246607"/>
            <a:ext cx="2735384" cy="275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821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CAC0-CA43-0558-26AE-C9A8F8460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7BF79-BAE6-D7AC-CC3E-D0FCB614A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0C3CB-3F62-7157-EADF-0832E3F3B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67" y="2355474"/>
            <a:ext cx="8456843" cy="43295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One other common application of data mining is feature extraction, or the search for salient structure in otherwise unstructured (or too complex) data.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dirty="0"/>
              <a:t>For example: given a certain element of your data set (such as a query by example), you might be interested in finding other similar elements (e.g., nearest  neighbors).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dirty="0"/>
              <a:t>For this, you need to think in terms of similarity between arbitrary elements.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75402C-3A02-7A64-178C-E8780AEB5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842" y="2246607"/>
            <a:ext cx="2735384" cy="275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84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246E-2B39-A1E6-B973-996C8F9B8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First Lecture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BDCC6-AB73-0A02-7F35-C8CF3D511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Any questions?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71929683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2158</Words>
  <Application>Microsoft Office PowerPoint</Application>
  <PresentationFormat>Widescreen</PresentationFormat>
  <Paragraphs>215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Avenir Next LT Pro</vt:lpstr>
      <vt:lpstr>Calibri</vt:lpstr>
      <vt:lpstr>AccentBoxVTI</vt:lpstr>
      <vt:lpstr>Data Mining HT26 (4DV510/4DT910), 5hp</vt:lpstr>
      <vt:lpstr>Welcome!</vt:lpstr>
      <vt:lpstr>Teachers and Staff</vt:lpstr>
      <vt:lpstr>Literature</vt:lpstr>
      <vt:lpstr>Main Activities</vt:lpstr>
      <vt:lpstr>Examination</vt:lpstr>
      <vt:lpstr>Examination (cont’d)</vt:lpstr>
      <vt:lpstr>The Project</vt:lpstr>
      <vt:lpstr>Learning Outcomes</vt:lpstr>
      <vt:lpstr>Next Steps</vt:lpstr>
      <vt:lpstr>Thank you!</vt:lpstr>
      <vt:lpstr>Introduction – What is Data Mining?</vt:lpstr>
      <vt:lpstr>What is Data Mining?</vt:lpstr>
      <vt:lpstr>What is Data Mining?</vt:lpstr>
      <vt:lpstr>What is Data Mining?</vt:lpstr>
      <vt:lpstr>What is Data Mining?</vt:lpstr>
      <vt:lpstr>What is Data Mining?</vt:lpstr>
      <vt:lpstr>What is Data Mining?</vt:lpstr>
      <vt:lpstr>What is Data Mining?</vt:lpstr>
      <vt:lpstr>What is Data Mining?</vt:lpstr>
      <vt:lpstr>What is Data Mining?</vt:lpstr>
      <vt:lpstr>What is Data Mining?</vt:lpstr>
      <vt:lpstr>End of First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Hönel</dc:creator>
  <cp:lastModifiedBy>Sebastian Hönel</cp:lastModifiedBy>
  <cp:revision>55</cp:revision>
  <dcterms:created xsi:type="dcterms:W3CDTF">2026-08-31T11:08:14Z</dcterms:created>
  <dcterms:modified xsi:type="dcterms:W3CDTF">2026-09-01T11:01:34Z</dcterms:modified>
</cp:coreProperties>
</file>